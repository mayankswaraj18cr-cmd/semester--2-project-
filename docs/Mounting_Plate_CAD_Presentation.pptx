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640080"/>
            <a:ext cx="82296" cy="82296"/>
          </a:xfrm>
          <a:prstGeom prst="ellipse">
            <a:avLst/>
          </a:prstGeom>
          <a:solidFill>
            <a:srgbClr val="C9791E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0" y="640080"/>
            <a:ext cx="82296" cy="82296"/>
          </a:xfrm>
          <a:prstGeom prst="ellipse">
            <a:avLst/>
          </a:prstGeom>
          <a:solidFill>
            <a:srgbClr val="C9791E"/>
          </a:solidFill>
          <a:ln/>
        </p:spPr>
      </p:sp>
      <p:sp>
        <p:nvSpPr>
          <p:cNvPr id="5" name="Shape 3"/>
          <p:cNvSpPr/>
          <p:nvPr/>
        </p:nvSpPr>
        <p:spPr>
          <a:xfrm>
            <a:off x="10424160" y="640080"/>
            <a:ext cx="82296" cy="82296"/>
          </a:xfrm>
          <a:prstGeom prst="ellipse">
            <a:avLst/>
          </a:prstGeom>
          <a:solidFill>
            <a:srgbClr val="C9791E"/>
          </a:solidFill>
          <a:ln/>
        </p:spPr>
      </p:sp>
      <p:sp>
        <p:nvSpPr>
          <p:cNvPr id="6" name="Shape 4"/>
          <p:cNvSpPr/>
          <p:nvPr/>
        </p:nvSpPr>
        <p:spPr>
          <a:xfrm>
            <a:off x="8778240" y="1463040"/>
            <a:ext cx="82296" cy="82296"/>
          </a:xfrm>
          <a:prstGeom prst="ellipse">
            <a:avLst/>
          </a:prstGeom>
          <a:solidFill>
            <a:srgbClr val="C9791E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0" y="1463040"/>
            <a:ext cx="82296" cy="82296"/>
          </a:xfrm>
          <a:prstGeom prst="ellipse">
            <a:avLst/>
          </a:prstGeom>
          <a:solidFill>
            <a:srgbClr val="C9791E"/>
          </a:solidFill>
          <a:ln/>
        </p:spPr>
      </p:sp>
      <p:sp>
        <p:nvSpPr>
          <p:cNvPr id="8" name="Shape 6"/>
          <p:cNvSpPr/>
          <p:nvPr/>
        </p:nvSpPr>
        <p:spPr>
          <a:xfrm>
            <a:off x="10424160" y="1463040"/>
            <a:ext cx="82296" cy="82296"/>
          </a:xfrm>
          <a:prstGeom prst="ellipse">
            <a:avLst/>
          </a:prstGeom>
          <a:solidFill>
            <a:srgbClr val="C9791E"/>
          </a:solidFill>
          <a:ln/>
        </p:spPr>
      </p:sp>
      <p:sp>
        <p:nvSpPr>
          <p:cNvPr id="9" name="Shape 7"/>
          <p:cNvSpPr/>
          <p:nvPr/>
        </p:nvSpPr>
        <p:spPr>
          <a:xfrm>
            <a:off x="8778240" y="2286000"/>
            <a:ext cx="82296" cy="82296"/>
          </a:xfrm>
          <a:prstGeom prst="ellipse">
            <a:avLst/>
          </a:prstGeom>
          <a:solidFill>
            <a:srgbClr val="C9791E"/>
          </a:solidFill>
          <a:ln/>
        </p:spPr>
      </p:sp>
      <p:sp>
        <p:nvSpPr>
          <p:cNvPr id="10" name="Shape 8"/>
          <p:cNvSpPr/>
          <p:nvPr/>
        </p:nvSpPr>
        <p:spPr>
          <a:xfrm>
            <a:off x="9601200" y="2286000"/>
            <a:ext cx="82296" cy="82296"/>
          </a:xfrm>
          <a:prstGeom prst="ellipse">
            <a:avLst/>
          </a:prstGeom>
          <a:solidFill>
            <a:srgbClr val="C9791E"/>
          </a:solidFill>
          <a:ln/>
        </p:spPr>
      </p:sp>
      <p:sp>
        <p:nvSpPr>
          <p:cNvPr id="11" name="Shape 9"/>
          <p:cNvSpPr/>
          <p:nvPr/>
        </p:nvSpPr>
        <p:spPr>
          <a:xfrm>
            <a:off x="10424160" y="2286000"/>
            <a:ext cx="82296" cy="82296"/>
          </a:xfrm>
          <a:prstGeom prst="ellipse">
            <a:avLst/>
          </a:prstGeom>
          <a:solidFill>
            <a:srgbClr val="C9791E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1965960"/>
            <a:ext cx="10515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2D MECHANICAL COMPONENT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822960" y="2542032"/>
            <a:ext cx="10515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DRAWING USING CAD SOFTWARE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41248" y="33375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979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Mechanical Mounting Plate — Technical Drafting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841248" y="3913632"/>
            <a:ext cx="2926080" cy="0"/>
          </a:xfrm>
          <a:prstGeom prst="line">
            <a:avLst/>
          </a:prstGeom>
          <a:noFill/>
          <a:ln w="19050">
            <a:solidFill>
              <a:srgbClr val="C9791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409651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8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Engineering Graphics &amp; CAD Modeling  •  CAD Design Project  •  Beginner Level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1248" y="5989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8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GSSIPU  •  Semester 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1248" y="6309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Mayank Swaraj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79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 &amp; Why CAD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492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 precise 2D engineering drawing of a mechanical component using CAD software, following standard engineering drafting conventions.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6492240" cy="713232"/>
          </a:xfrm>
          <a:prstGeom prst="rect">
            <a:avLst>
              <a:gd name="adj" fmla="val 7692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788920"/>
            <a:ext cx="347472" cy="347472"/>
          </a:xfrm>
          <a:prstGeom prst="ellipse">
            <a:avLst/>
          </a:prstGeom>
          <a:solidFill>
            <a:srgbClr val="C9791E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27889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07008" y="2679192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Higher Accuracy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207008" y="2953512"/>
            <a:ext cx="5669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construction removes hand-drafting error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3447288"/>
            <a:ext cx="6492240" cy="713232"/>
          </a:xfrm>
          <a:prstGeom prst="rect">
            <a:avLst>
              <a:gd name="adj" fmla="val 7692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3630168"/>
            <a:ext cx="347472" cy="347472"/>
          </a:xfrm>
          <a:prstGeom prst="ellipse">
            <a:avLst/>
          </a:prstGeom>
          <a:solidFill>
            <a:srgbClr val="C9791E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36301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07008" y="352044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Faster Modifications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207008" y="3794760"/>
            <a:ext cx="5669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Edits applied in seconds, not full redraws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4288536"/>
            <a:ext cx="6492240" cy="713232"/>
          </a:xfrm>
          <a:prstGeom prst="rect">
            <a:avLst>
              <a:gd name="adj" fmla="val 7692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" y="4471416"/>
            <a:ext cx="347472" cy="347472"/>
          </a:xfrm>
          <a:prstGeom prst="ellipse">
            <a:avLst/>
          </a:prstGeom>
          <a:solidFill>
            <a:srgbClr val="C9791E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44714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07008" y="4361688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Easy Storage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207008" y="4636008"/>
            <a:ext cx="5669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Version-controlled, archived, transmitted electronically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5129784"/>
            <a:ext cx="6492240" cy="713232"/>
          </a:xfrm>
          <a:prstGeom prst="rect">
            <a:avLst>
              <a:gd name="adj" fmla="val 7692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" y="5312664"/>
            <a:ext cx="347472" cy="347472"/>
          </a:xfrm>
          <a:prstGeom prst="ellipse">
            <a:avLst/>
          </a:prstGeom>
          <a:solidFill>
            <a:srgbClr val="C9791E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53126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07008" y="5202936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Professional Documentation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207008" y="5477256"/>
            <a:ext cx="5669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Manufacturing-ready reference drawings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60920" y="1417320"/>
            <a:ext cx="4251960" cy="4709160"/>
          </a:xfrm>
          <a:prstGeom prst="rect">
            <a:avLst>
              <a:gd name="adj" fmla="val 1720"/>
            </a:avLst>
          </a:prstGeom>
          <a:solidFill>
            <a:srgbClr val="162C56"/>
          </a:solidFill>
          <a:ln/>
        </p:spPr>
      </p:sp>
      <p:sp>
        <p:nvSpPr>
          <p:cNvPr id="26" name="Text 24"/>
          <p:cNvSpPr/>
          <p:nvPr/>
        </p:nvSpPr>
        <p:spPr>
          <a:xfrm>
            <a:off x="768096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79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SOFTWARE OPTIONS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680960" y="20116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 CAD Tool Works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680960" y="2606040"/>
            <a:ext cx="3566160" cy="502920"/>
          </a:xfrm>
          <a:prstGeom prst="rect">
            <a:avLst>
              <a:gd name="adj" fmla="val 10909"/>
            </a:avLst>
          </a:prstGeom>
          <a:solidFill>
            <a:srgbClr val="1E3358"/>
          </a:solidFill>
          <a:ln w="9525">
            <a:solidFill>
              <a:srgbClr val="3A4A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63840" y="26060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AutoCAD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680960" y="3227832"/>
            <a:ext cx="3566160" cy="502920"/>
          </a:xfrm>
          <a:prstGeom prst="rect">
            <a:avLst>
              <a:gd name="adj" fmla="val 10909"/>
            </a:avLst>
          </a:prstGeom>
          <a:solidFill>
            <a:srgbClr val="1E3358"/>
          </a:solidFill>
          <a:ln w="9525">
            <a:solidFill>
              <a:srgbClr val="3A4A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63840" y="322783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SolidWorks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680960" y="3849624"/>
            <a:ext cx="3566160" cy="502920"/>
          </a:xfrm>
          <a:prstGeom prst="rect">
            <a:avLst>
              <a:gd name="adj" fmla="val 10909"/>
            </a:avLst>
          </a:prstGeom>
          <a:solidFill>
            <a:srgbClr val="1E3358"/>
          </a:solidFill>
          <a:ln w="9525">
            <a:solidFill>
              <a:srgbClr val="3A4A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63840" y="3849624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Fusion 360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680960" y="4471416"/>
            <a:ext cx="3566160" cy="502920"/>
          </a:xfrm>
          <a:prstGeom prst="rect">
            <a:avLst>
              <a:gd name="adj" fmla="val 10909"/>
            </a:avLst>
          </a:prstGeom>
          <a:solidFill>
            <a:srgbClr val="1E3358"/>
          </a:solidFill>
          <a:ln w="9525">
            <a:solidFill>
              <a:srgbClr val="3A4A6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63840" y="4471416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FreeCAD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680960" y="5074920"/>
            <a:ext cx="3566160" cy="0"/>
          </a:xfrm>
          <a:prstGeom prst="line">
            <a:avLst/>
          </a:prstGeom>
          <a:noFill/>
          <a:ln w="12700">
            <a:solidFill>
              <a:srgbClr val="3A4A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80960" y="5257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79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Selected component: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680960" y="55321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Mechanical Mounting Plate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120 × 80 × 10 mm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57200" y="647395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2D Mechanical Component Drawing  •  Engineering Graphics &amp; CAD Modeling  •  GSSIPU Semester 2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0725912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79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OUTPUT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Drawing — Top 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858000" cy="4526280"/>
          </a:xfrm>
          <a:prstGeom prst="rect">
            <a:avLst>
              <a:gd name="adj" fmla="val 1212"/>
            </a:avLst>
          </a:prstGeom>
          <a:solidFill>
            <a:srgbClr val="0A1220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2103120"/>
            <a:ext cx="4572000" cy="2926080"/>
          </a:xfrm>
          <a:prstGeom prst="rect">
            <a:avLst/>
          </a:prstGeom>
          <a:solidFill>
            <a:srgbClr val="0A12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39112" y="2629814"/>
            <a:ext cx="585216" cy="585216"/>
          </a:xfrm>
          <a:prstGeom prst="ellipse">
            <a:avLst/>
          </a:prstGeom>
          <a:solidFill>
            <a:srgbClr val="0A122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30552" y="2922422"/>
            <a:ext cx="402336" cy="0"/>
          </a:xfrm>
          <a:prstGeom prst="line">
            <a:avLst/>
          </a:prstGeom>
          <a:noFill/>
          <a:ln w="9525">
            <a:solidFill>
              <a:srgbClr val="2E9E7C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2331720" y="2721254"/>
            <a:ext cx="0" cy="402336"/>
          </a:xfrm>
          <a:prstGeom prst="line">
            <a:avLst/>
          </a:prstGeom>
          <a:noFill/>
          <a:ln w="9525">
            <a:solidFill>
              <a:srgbClr val="2E9E7C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4325112" y="2629814"/>
            <a:ext cx="585216" cy="585216"/>
          </a:xfrm>
          <a:prstGeom prst="ellipse">
            <a:avLst/>
          </a:prstGeom>
          <a:solidFill>
            <a:srgbClr val="0A122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16552" y="2922422"/>
            <a:ext cx="402336" cy="0"/>
          </a:xfrm>
          <a:prstGeom prst="line">
            <a:avLst/>
          </a:prstGeom>
          <a:noFill/>
          <a:ln w="9525">
            <a:solidFill>
              <a:srgbClr val="2E9E7C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4617720" y="2721254"/>
            <a:ext cx="0" cy="402336"/>
          </a:xfrm>
          <a:prstGeom prst="line">
            <a:avLst/>
          </a:prstGeom>
          <a:noFill/>
          <a:ln w="9525">
            <a:solidFill>
              <a:srgbClr val="2E9E7C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2039112" y="3917290"/>
            <a:ext cx="585216" cy="585216"/>
          </a:xfrm>
          <a:prstGeom prst="ellipse">
            <a:avLst/>
          </a:prstGeom>
          <a:solidFill>
            <a:srgbClr val="0A122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30552" y="4209898"/>
            <a:ext cx="402336" cy="0"/>
          </a:xfrm>
          <a:prstGeom prst="line">
            <a:avLst/>
          </a:prstGeom>
          <a:noFill/>
          <a:ln w="9525">
            <a:solidFill>
              <a:srgbClr val="2E9E7C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2331720" y="4008730"/>
            <a:ext cx="0" cy="402336"/>
          </a:xfrm>
          <a:prstGeom prst="line">
            <a:avLst/>
          </a:prstGeom>
          <a:noFill/>
          <a:ln w="9525">
            <a:solidFill>
              <a:srgbClr val="2E9E7C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4325112" y="3917290"/>
            <a:ext cx="585216" cy="585216"/>
          </a:xfrm>
          <a:prstGeom prst="ellipse">
            <a:avLst/>
          </a:prstGeom>
          <a:solidFill>
            <a:srgbClr val="0A122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16552" y="4209898"/>
            <a:ext cx="402336" cy="0"/>
          </a:xfrm>
          <a:prstGeom prst="line">
            <a:avLst/>
          </a:prstGeom>
          <a:noFill/>
          <a:ln w="9525">
            <a:solidFill>
              <a:srgbClr val="2E9E7C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4617720" y="4008730"/>
            <a:ext cx="0" cy="402336"/>
          </a:xfrm>
          <a:prstGeom prst="line">
            <a:avLst/>
          </a:prstGeom>
          <a:noFill/>
          <a:ln w="9525">
            <a:solidFill>
              <a:srgbClr val="2E9E7C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1188720" y="5349240"/>
            <a:ext cx="4572000" cy="0"/>
          </a:xfrm>
          <a:prstGeom prst="line">
            <a:avLst/>
          </a:prstGeom>
          <a:noFill/>
          <a:ln w="12700">
            <a:solidFill>
              <a:srgbClr val="C979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88720" y="540410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79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 mm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80760" y="2103120"/>
            <a:ext cx="0" cy="2926080"/>
          </a:xfrm>
          <a:prstGeom prst="line">
            <a:avLst/>
          </a:prstGeom>
          <a:noFill/>
          <a:ln w="12700">
            <a:solidFill>
              <a:srgbClr val="C9791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53912" y="34290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79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331720" y="1828800"/>
            <a:ext cx="2286000" cy="0"/>
          </a:xfrm>
          <a:prstGeom prst="line">
            <a:avLst/>
          </a:prstGeom>
          <a:noFill/>
          <a:ln w="12700">
            <a:solidFill>
              <a:srgbClr val="C9791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31720" y="15361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79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 mm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88720" y="5623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6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⌀20 mm holes  •  SCALE 1:1  •  UNITS: mm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680960" y="16002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79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SPECIFICATIONS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680960" y="1965960"/>
            <a:ext cx="3931920" cy="457200"/>
          </a:xfrm>
          <a:prstGeom prst="rect">
            <a:avLst/>
          </a:prstGeom>
          <a:solidFill>
            <a:srgbClr val="F6F8FB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18120" y="19659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Length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966960" y="19659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120 mm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680960" y="2423160"/>
            <a:ext cx="3931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18120" y="24231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Width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966960" y="24231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 mm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680960" y="2880360"/>
            <a:ext cx="3931920" cy="457200"/>
          </a:xfrm>
          <a:prstGeom prst="rect">
            <a:avLst/>
          </a:prstGeom>
          <a:solidFill>
            <a:srgbClr val="F6F8FB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18120" y="28803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Thickness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966960" y="28803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mm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680960" y="3337560"/>
            <a:ext cx="3931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18120" y="33375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Hole Diameter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966960" y="3337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 mm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7680960" y="3794760"/>
            <a:ext cx="3931920" cy="457200"/>
          </a:xfrm>
          <a:prstGeom prst="rect">
            <a:avLst/>
          </a:prstGeom>
          <a:solidFill>
            <a:srgbClr val="F6F8FB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18120" y="37947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Hole Spacing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966960" y="37947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 mm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7680960" y="4251960"/>
            <a:ext cx="3931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818120" y="42519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966960" y="42519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: 1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7680960" y="4709160"/>
            <a:ext cx="3931920" cy="457200"/>
          </a:xfrm>
          <a:prstGeom prst="rect">
            <a:avLst/>
          </a:prstGeom>
          <a:solidFill>
            <a:srgbClr val="F6F8FB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818120" y="47091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9966960" y="47091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Millimeters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457200" y="647395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2D Mechanical Component Drawing  •  Engineering Graphics &amp; CAD Modeling  •  GSSIPU Semester 2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10725912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79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CONSTRUCTION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 Command Sequence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25780" y="2103120"/>
            <a:ext cx="1920240" cy="1737360"/>
          </a:xfrm>
          <a:prstGeom prst="rect">
            <a:avLst>
              <a:gd name="adj" fmla="val 5263"/>
            </a:avLst>
          </a:prstGeom>
          <a:solidFill>
            <a:srgbClr val="F6F8FB"/>
          </a:solidFill>
          <a:ln w="12700">
            <a:solidFill>
              <a:srgbClr val="DC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25780" y="230428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17220" y="2816352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Draw plate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outline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46020" y="2971800"/>
            <a:ext cx="384048" cy="0"/>
          </a:xfrm>
          <a:prstGeom prst="line">
            <a:avLst/>
          </a:prstGeom>
          <a:noFill/>
          <a:ln w="25400">
            <a:solidFill>
              <a:srgbClr val="C9791E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30068" y="2103120"/>
            <a:ext cx="1920240" cy="1737360"/>
          </a:xfrm>
          <a:prstGeom prst="rect">
            <a:avLst>
              <a:gd name="adj" fmla="val 5263"/>
            </a:avLst>
          </a:prstGeom>
          <a:solidFill>
            <a:srgbClr val="F6F8FB"/>
          </a:solidFill>
          <a:ln w="12700">
            <a:solidFill>
              <a:srgbClr val="DCE1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0068" y="230428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CIRCLE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921508" y="2816352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Draw drilled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0308" y="2971800"/>
            <a:ext cx="384048" cy="0"/>
          </a:xfrm>
          <a:prstGeom prst="line">
            <a:avLst/>
          </a:prstGeom>
          <a:noFill/>
          <a:ln w="25400">
            <a:solidFill>
              <a:srgbClr val="C9791E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134356" y="2103120"/>
            <a:ext cx="1920240" cy="1737360"/>
          </a:xfrm>
          <a:prstGeom prst="rect">
            <a:avLst>
              <a:gd name="adj" fmla="val 5263"/>
            </a:avLst>
          </a:prstGeom>
          <a:solidFill>
            <a:srgbClr val="F6F8FB"/>
          </a:solidFill>
          <a:ln w="12700">
            <a:solidFill>
              <a:srgbClr val="DCE1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34356" y="230428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OFFSET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225796" y="2816352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Generate parallel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construction lines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054596" y="2971800"/>
            <a:ext cx="384048" cy="0"/>
          </a:xfrm>
          <a:prstGeom prst="line">
            <a:avLst/>
          </a:prstGeom>
          <a:noFill/>
          <a:ln w="25400">
            <a:solidFill>
              <a:srgbClr val="C9791E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438644" y="2103120"/>
            <a:ext cx="1920240" cy="1737360"/>
          </a:xfrm>
          <a:prstGeom prst="rect">
            <a:avLst>
              <a:gd name="adj" fmla="val 5263"/>
            </a:avLst>
          </a:prstGeom>
          <a:solidFill>
            <a:srgbClr val="F6F8FB"/>
          </a:solidFill>
          <a:ln w="12700">
            <a:solidFill>
              <a:srgbClr val="DCE1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38644" y="230428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TRIM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530084" y="2816352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Remove excess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geometry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358884" y="2971800"/>
            <a:ext cx="384048" cy="0"/>
          </a:xfrm>
          <a:prstGeom prst="line">
            <a:avLst/>
          </a:prstGeom>
          <a:noFill/>
          <a:ln w="25400">
            <a:solidFill>
              <a:srgbClr val="C9791E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742932" y="2103120"/>
            <a:ext cx="1920240" cy="1737360"/>
          </a:xfrm>
          <a:prstGeom prst="rect">
            <a:avLst>
              <a:gd name="adj" fmla="val 5263"/>
            </a:avLst>
          </a:prstGeom>
          <a:solidFill>
            <a:srgbClr val="162C56"/>
          </a:solidFill>
          <a:ln w="12700">
            <a:solidFill>
              <a:srgbClr val="162C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42932" y="230428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834372" y="2816352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6DC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Apply linear &amp;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6DC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diameter dimensions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434840"/>
            <a:ext cx="11064240" cy="1737360"/>
          </a:xfrm>
          <a:prstGeom prst="rect">
            <a:avLst>
              <a:gd name="adj" fmla="val 3158"/>
            </a:avLst>
          </a:prstGeom>
          <a:solidFill>
            <a:srgbClr val="FBEEDD"/>
          </a:solidFill>
          <a:ln w="9525">
            <a:solidFill>
              <a:srgbClr val="C9791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617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Procedure Summary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" y="49834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Open CAD software   2. Set units to mm   3. Draw 120×80 mm rectangle   4. Mark hole centers   5. Draw ⌀20 mm circles   6. Apply dimensions   7. Add centerlines   8. Save as Mounting_Plate_2D.dwg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2D Mechanical Component Drawing  •  Engineering Graphics &amp; CAD Modeling  •  GSSIPU Semester 2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725912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79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Engineering Standards Followed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12080" cy="1965960"/>
          </a:xfrm>
          <a:prstGeom prst="rect">
            <a:avLst>
              <a:gd name="adj" fmla="val 4186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502920" cy="502920"/>
          </a:xfrm>
          <a:prstGeom prst="rect">
            <a:avLst>
              <a:gd name="adj" fmla="val 12727"/>
            </a:avLst>
          </a:prstGeom>
          <a:solidFill>
            <a:srgbClr val="C9791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85623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Dimensioning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measurements shown explicitly on the drawing — nothing left to visual estimation.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212080" cy="1965960"/>
          </a:xfrm>
          <a:prstGeom prst="rect">
            <a:avLst>
              <a:gd name="adj" fmla="val 4186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1874520"/>
            <a:ext cx="502920" cy="502920"/>
          </a:xfrm>
          <a:prstGeom prst="rect">
            <a:avLst>
              <a:gd name="adj" fmla="val 12727"/>
            </a:avLst>
          </a:prstGeom>
          <a:solidFill>
            <a:srgbClr val="C9791E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178040" y="185623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Center Lines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92240" y="251460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Long-short dashed lines mark the geometric center of every circular hole feature.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212080" cy="1965960"/>
          </a:xfrm>
          <a:prstGeom prst="rect">
            <a:avLst>
              <a:gd name="adj" fmla="val 4186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206240"/>
            <a:ext cx="502920" cy="502920"/>
          </a:xfrm>
          <a:prstGeom prst="rect">
            <a:avLst>
              <a:gd name="adj" fmla="val 12727"/>
            </a:avLst>
          </a:prstGeom>
          <a:solidFill>
            <a:srgbClr val="C9791E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418795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1:1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484632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drawing unit corresponds to one physical millimeter of the actual component.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3931920"/>
            <a:ext cx="5212080" cy="1965960"/>
          </a:xfrm>
          <a:prstGeom prst="rect">
            <a:avLst>
              <a:gd name="adj" fmla="val 4186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4206240"/>
            <a:ext cx="502920" cy="502920"/>
          </a:xfrm>
          <a:prstGeom prst="rect">
            <a:avLst>
              <a:gd name="adj" fmla="val 12727"/>
            </a:avLst>
          </a:prstGeom>
          <a:solidFill>
            <a:srgbClr val="C9791E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78040" y="418795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Units: Millimeters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92240" y="484632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 metric unit used consistently across all mechanical drawings.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2D Mechanical Component Drawing  •  Engineering Graphics &amp; CAD Modeling  •  GSSIPU Semester 2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0725912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79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INDUSTRY RELEVANCE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Applications &amp; Advantages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79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91440" cy="91440"/>
          </a:xfrm>
          <a:prstGeom prst="ellipse">
            <a:avLst/>
          </a:prstGeom>
          <a:solidFill>
            <a:srgbClr val="C9791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Mechanical Engineering — machine components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532888"/>
            <a:ext cx="91440" cy="91440"/>
          </a:xfrm>
          <a:prstGeom prst="ellipse">
            <a:avLst/>
          </a:prstGeom>
          <a:solidFill>
            <a:srgbClr val="C9791E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4231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Civil Engineering — structural layouts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127248"/>
            <a:ext cx="91440" cy="91440"/>
          </a:xfrm>
          <a:prstGeom prst="ellipse">
            <a:avLst/>
          </a:prstGeom>
          <a:solidFill>
            <a:srgbClr val="C9791E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0175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Automobile Industry — vehicle part design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721608"/>
            <a:ext cx="91440" cy="91440"/>
          </a:xfrm>
          <a:prstGeom prst="ellipse">
            <a:avLst/>
          </a:prstGeom>
          <a:solidFill>
            <a:srgbClr val="C9791E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6118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Manufacturing — production drawings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315968"/>
            <a:ext cx="91440" cy="91440"/>
          </a:xfrm>
          <a:prstGeom prst="ellipse">
            <a:avLst/>
          </a:prstGeom>
          <a:solidFill>
            <a:srgbClr val="C9791E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2062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Aerospace — component drafting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63640" y="1417320"/>
            <a:ext cx="5349240" cy="4709160"/>
          </a:xfrm>
          <a:prstGeom prst="rect">
            <a:avLst>
              <a:gd name="adj" fmla="val 1553"/>
            </a:avLst>
          </a:prstGeom>
          <a:solidFill>
            <a:srgbClr val="162C56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1691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79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ADVANTAGES OF CAD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83680" y="2148840"/>
            <a:ext cx="4709160" cy="621792"/>
          </a:xfrm>
          <a:prstGeom prst="rect">
            <a:avLst>
              <a:gd name="adj" fmla="val 10294"/>
            </a:avLst>
          </a:prstGeom>
          <a:solidFill>
            <a:srgbClr val="1E3358"/>
          </a:solidFill>
          <a:ln w="9525">
            <a:solidFill>
              <a:srgbClr val="3A4A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2148840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79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06640" y="2148840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 Precision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583680" y="2898648"/>
            <a:ext cx="4709160" cy="621792"/>
          </a:xfrm>
          <a:prstGeom prst="rect">
            <a:avLst>
              <a:gd name="adj" fmla="val 10294"/>
            </a:avLst>
          </a:prstGeom>
          <a:solidFill>
            <a:srgbClr val="1E3358"/>
          </a:solidFill>
          <a:ln w="9525">
            <a:solidFill>
              <a:srgbClr val="3A4A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2898648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79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406640" y="2898648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Easy Modification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583680" y="3648456"/>
            <a:ext cx="4709160" cy="621792"/>
          </a:xfrm>
          <a:prstGeom prst="rect">
            <a:avLst>
              <a:gd name="adj" fmla="val 10294"/>
            </a:avLst>
          </a:prstGeom>
          <a:solidFill>
            <a:srgbClr val="1E3358"/>
          </a:solidFill>
          <a:ln w="9525">
            <a:solidFill>
              <a:srgbClr val="3A4A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3648456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79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406640" y="3648456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Professional Output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583680" y="4398264"/>
            <a:ext cx="4709160" cy="621792"/>
          </a:xfrm>
          <a:prstGeom prst="rect">
            <a:avLst>
              <a:gd name="adj" fmla="val 10294"/>
            </a:avLst>
          </a:prstGeom>
          <a:solidFill>
            <a:srgbClr val="1E3358"/>
          </a:solidFill>
          <a:ln w="9525">
            <a:solidFill>
              <a:srgbClr val="3A4A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0" y="4398264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79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406640" y="4398264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Faster Design Process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583680" y="5148072"/>
            <a:ext cx="4709160" cy="621792"/>
          </a:xfrm>
          <a:prstGeom prst="rect">
            <a:avLst>
              <a:gd name="adj" fmla="val 10294"/>
            </a:avLst>
          </a:prstGeom>
          <a:solidFill>
            <a:srgbClr val="1E3358"/>
          </a:solidFill>
          <a:ln w="9525">
            <a:solidFill>
              <a:srgbClr val="3A4A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0" y="5148072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79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406640" y="5148072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Industry Standard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2D Mechanical Component Drawing  •  Engineering Graphics &amp; CAD Modeling  •  GSSIPU Semester 2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725912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79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Outcome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64240" cy="1371600"/>
          </a:xfrm>
          <a:prstGeom prst="rect">
            <a:avLst>
              <a:gd name="adj" fmla="val 5333"/>
            </a:avLst>
          </a:prstGeom>
          <a:solidFill>
            <a:srgbClr val="1E3358"/>
          </a:solidFill>
          <a:ln w="9525">
            <a:solidFill>
              <a:srgbClr val="3A4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7452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complete 2D mechanical component drawing was successfully designed using CAD software with proper dimensions, centerlines, and engineering drafting standards.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429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79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OUTCOMES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895344"/>
            <a:ext cx="91440" cy="91440"/>
          </a:xfrm>
          <a:prstGeom prst="ellipse">
            <a:avLst/>
          </a:prstGeom>
          <a:solidFill>
            <a:srgbClr val="C9791E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785616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Basic CAD Environment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279392"/>
            <a:ext cx="91440" cy="91440"/>
          </a:xfrm>
          <a:prstGeom prst="ellipse">
            <a:avLst/>
          </a:prstGeom>
          <a:solidFill>
            <a:srgbClr val="C9791E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169664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2D Sketching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663440"/>
            <a:ext cx="91440" cy="91440"/>
          </a:xfrm>
          <a:prstGeom prst="ellipse">
            <a:avLst/>
          </a:prstGeom>
          <a:solidFill>
            <a:srgbClr val="C9791E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55371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Engineering Dimensions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047488"/>
            <a:ext cx="91440" cy="91440"/>
          </a:xfrm>
          <a:prstGeom prst="ellipse">
            <a:avLst/>
          </a:prstGeom>
          <a:solidFill>
            <a:srgbClr val="C9791E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937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Drafting Standards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431536"/>
            <a:ext cx="91440" cy="91440"/>
          </a:xfrm>
          <a:prstGeom prst="ellipse">
            <a:avLst/>
          </a:prstGeom>
          <a:solidFill>
            <a:srgbClr val="C9791E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32180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Design Workflow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989320"/>
            <a:ext cx="11064240" cy="0"/>
          </a:xfrm>
          <a:prstGeom prst="line">
            <a:avLst/>
          </a:prstGeom>
          <a:noFill/>
          <a:ln w="12700">
            <a:solidFill>
              <a:srgbClr val="3A4A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6126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2D Mechanical Component Drawing — CAD Design Mini Project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6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Mayank Swaraj  |  GSSIPU Semester 2  |  github.com/mayankswaraj18cr-cmd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2026-08-18T01:59:32Z</dcterms:created>
  <dcterms:modified xsi:type="dcterms:W3CDTF">2026-08-18T01:59:32Z</dcterms:modified>
</cp:coreProperties>
</file>